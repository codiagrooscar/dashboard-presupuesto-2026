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931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3121572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46888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PLAN ESTRATÉGICO &amp; CONTROL DE GESTIÓN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PRESUPUESTO 2027 &amp;</a:t>
            </a:r>
            <a:br/>
            <a:r>
              <a:t>CIERRE FORECAST 2026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Visión Integral: Cifra de Negocios, Rentabilidad Operativa (EBITDA), Estructura de Gastos y Desempeño Comercial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CODIAGRO AGROQUÍMICA S.L.  |  Presentación para Dirección General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Resumen Ejecutivo: Los 5 Pilares del Presupuesto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Crecimiento Sostenido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17,18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+13,2% (+2,00 M€)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Incremento del volumen comercial (+8,1% en unidades) y consolidación de precios medios y mix por productos de alta tecnología nutricional.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2029968" cy="4114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EBITDA Récord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7,30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42,5% Margen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El beneficio operativo crece +874 k€ (+13,6% vs 2026), preservando un margen de rentabilidad récord del 42,5% sobre ingresos.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Margen Bruto Fuerte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67,3%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11,57 M€ Bruto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Absorción íntegra de la inflación de materias primas (+4,5%) gracias a economías de escala fabriles y optimización en compras.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Eficiencia de OPEX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13,0%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Coste Personal/Vtas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Gastos de estructura bajo control. La masa salarial (2,23 M€) reduce su peso relativo en ventas del 13,2% (2026) al 13,0% (2027).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09760" y="1325880"/>
            <a:ext cx="2029968" cy="4114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Tracción Inmediata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129,8%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Cierre Sep-26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La demanda actual valida la ambición del plan: Septiembre 2026 cierra con 236.105 uds pedidas vs 181.966 presupuestadas (+29,8%).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Cuenta de Resultados (P&amp;L): Cierre 2026 Forecast vs Presupuesto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5895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  <a:gridCol w="1005840"/>
                <a:gridCol w="1005840"/>
                <a:gridCol w="1005840"/>
              </a:tblGrid>
              <a:tr h="44057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Línea P&amp;L (en miles de 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FC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Vtas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 B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Vtas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(€ / %)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1. Cifra Neta de Negocios (Ventas)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15.180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17.180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+2.000 (+13,2%)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Coste de las Ventas (COGS)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-5.234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34,5%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-5.919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34,5%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-686 (+13,1%)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3. Margen Bruto (Gross Profit)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10.115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66,6%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11.566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67,3%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+1.451 (+14,3%)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Gastos de Personal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-2.007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13,2%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-2.229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13,0%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-222 (+11,1%)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Otros Ingresos Operativos (Export Transp)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+137 (+81,1%)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 Otros Gastos Operativos (Opex)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-1.684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-2.038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-355 (+21,0%)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 Total Gastos Fijos (OPEX Neto)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-3.962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-440 (+12,5%)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8. EBITDA Ajustado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6.424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42,3%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7.299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42,5%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+874 (+13,6%)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 Amortizaciones y Depreciaciones (D&amp;A)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 (+0,4%)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10. EBIT Ajustado (Resultado Operativo)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6.195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40,8%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7.068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41,1%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+873 (+14,1%)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03920" y="1325880"/>
            <a:ext cx="2926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630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RENTABILIDAD OPERATIVA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7,30 M€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EBITDA récord en la historia de la compañía (+13,6% vs 2026), preservando un margen excelente del 42,5% a pesar de la inflación de suministros y refuerzos operativos.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840480"/>
            <a:ext cx="2926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977639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APALANCAMIENTO OPERATIVO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+2,00 M€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Crecimiento en ingresos (+13,2%) sostenido en España y mercados clave de exportación, convirtiendo cada euro extra de venta en 44 céntimos de EBITDA adicional.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Desglose Comercial: Objetivos de Ventas 2027 por Zona y Gestor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914400"/>
                <a:gridCol w="1005840"/>
                <a:gridCol w="1005840"/>
                <a:gridCol w="1097280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Comercial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(Uds)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Cuota '27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Mercado Clave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García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5.758.078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6.425.613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+11,6%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+7,6%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España Centro-Sur / Clientes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Ricardo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3.824.612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4.281.919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+12,0%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+6,6%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24,9%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Levante / Distribución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Mehmet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1.778.148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2.027.764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+14,0%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+7,5%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Exportación Internacional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Pedro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1.239.220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1.413.541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+14,1%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+9,3%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8,2%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Zona Norte / Agroindustria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Irene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1.077.392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1.251.434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+16,2%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+11,2%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Bioestimulantes / Especialidades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Javier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973.009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1.142.039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+17,4%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Cultivos Leñosos y Frutales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Alfonso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529.543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637.691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+20,4%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Nuevas Cuentas / Expansión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TOTAL CODIAGRO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15.180.000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17.180.000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+13,2%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+8,1%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Consolidado Comercial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325880"/>
            <a:ext cx="27432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CLAVES COMERCIALES 2027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Liderazgo Consolidado: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García y Ricardo representan el 62,3% de la cifra global (10,71 M€), garantizando solidez y tracción en el negocio recurrente.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Acelerador Exportación: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Mehmet supera los 2,02 M€ (+14,0% en € / +7,5% en volumen), consolidando mercados exteriores clave con ratios ajustados.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Dinamismo en Red: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Alfonso (+20,4%), Javier (+17,4%) e Irene (+16,2%) potencian la venta técnica de gamas biológicas de alto margen.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Ajuste Quirúrgico Opción 4: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El plan 2027 refleja el ajuste a 17,18 M€, eliminando sobreexpectativas en Turquía, Egipto, Chile y Grecia.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Estructura de Aprovisionamientos y Margen Bruto (COGS)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Materias Primas (601): 4.462 k€  (25,97%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Consumo directo en formulación química. Se traslada un +4,5% de inflación contenida en 2027.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Envases y Embalajes (602001): 921 k€  (5,36%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Bidones, garrafas y contenedores IBC. Optimización de compras con acuerdos marco.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1304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Etiquetas y Palets (602002/3): 303 k€  (1,76%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Materiales auxiliares y consumibles logísticos vinculados al envasado en planta.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0176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Subcontratación y Fabril (607): 233 k€  (1,36%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Refuerzo puntual en picos de demanda estacional para maximizar servicio sin sobrecargar estructura fija.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25880"/>
            <a:ext cx="356616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SÍNTESIS DE MARGEN BRUTO</a:t>
            </a:r>
          </a:p>
          <a:p>
            <a:pPr>
              <a:spcBef>
                <a:spcPts val="600"/>
              </a:spcBef>
              <a:defRPr sz="3600" b="1">
                <a:solidFill>
                  <a:srgbClr val="0B2545"/>
                </a:solidFill>
              </a:defRPr>
            </a:pPr>
            <a:r>
              <a:t>67,3%</a:t>
            </a:r>
          </a:p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11.565.940 € de Gross Profit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El Gross Profit en euros se incrementa en +1,45 M€ (+14,3% vs cierre 2026), alcanzando una tasa récord del 67,32% sobre ventas.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La contención del incremento de compras al +4,5% estricto de inflación preserva intacto el valor añadido generado en fábrica.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Mayor aportación del mix de bioestimulantes y formulaciones de alto rendimiento tecnológico en cartera.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Estructura Operativa: Gastos de Personal y Gastos Fijos (OPEX)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GASTOS DE PERSONAL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2.228.610 €</a:t>
            </a:r>
          </a:p>
          <a:p>
            <a:pPr>
              <a:spcAft>
                <a:spcPts val="1200"/>
              </a:spcAft>
              <a:defRPr sz="1100" b="1">
                <a:solidFill>
                  <a:srgbClr val="166534"/>
                </a:solidFill>
              </a:defRPr>
            </a:pPr>
            <a:r>
              <a:t>12,97% de Ventas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Incremento de +222 k€ (+11,1% vs 2026) motivado por:</a:t>
            </a:r>
            <a:br/>
            <a:r>
              <a:t>• Actualización salarial convenio químico y antigüedad.</a:t>
            </a:r>
            <a:br/>
            <a:r>
              <a:t>• Refuerzo del equipo técnico de desarrollo agronómico en campo.</a:t>
            </a:r>
            <a:br/>
            <a:r>
              <a:t>• Nueva incorporación en planta para absorber mayor ritmo de envasado.</a:t>
            </a:r>
            <a:br/>
            <a:r>
              <a:t>• Mejora de eficiencia: el peso s/ventas se reduce del 13,22% al 12,97%.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OTROS GASTOS OPERATIVOS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2.038.489 €</a:t>
            </a:r>
          </a:p>
          <a:p>
            <a:pPr>
              <a:spcAft>
                <a:spcPts val="1200"/>
              </a:spcAft>
              <a:defRPr sz="1100" b="1">
                <a:solidFill>
                  <a:srgbClr val="1F4E79"/>
                </a:solidFill>
              </a:defRPr>
            </a:pPr>
            <a:r>
              <a:t>11,87% de Ventas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Partidas de funcionamiento diario y red comercial:</a:t>
            </a:r>
            <a:br/>
            <a:r>
              <a:t>• Formación no bonificada: 53.215 € (4.435 €/mes).</a:t>
            </a:r>
            <a:br/>
            <a:r>
              <a:t>• Gastos comerciales: 92.400 € (Pere, Ricardo y García a 2.000 €/m; Javier 1.200 €/m; Irene y Pedro 600 €/m; Ago 50%, Ene/Dic 75%).</a:t>
            </a:r>
            <a:br/>
            <a:r>
              <a:t>• Marketing y Ferias: 266 k€ | Regulatory: 234 k€ | Transporte neto: 246 k€.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OTROS INGRESOS OPERATIVOS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305.223 €</a:t>
            </a:r>
          </a:p>
          <a:p>
            <a:pPr>
              <a:spcAft>
                <a:spcPts val="1200"/>
              </a:spcAft>
              <a:defRPr sz="1100" b="1">
                <a:solidFill>
                  <a:srgbClr val="1F4E79"/>
                </a:solidFill>
              </a:defRPr>
            </a:pPr>
            <a:r>
              <a:t>Compensación Export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Salvedad contable de transporte:</a:t>
            </a:r>
            <a:br/>
            <a:r>
              <a:t>• Los fletes marítimos y aéreos de exportación se facturan íntegramente al cliente exterior en factura de venta (700001624).</a:t>
            </a:r>
            <a:br/>
            <a:r>
              <a:t>• Impacto en EBITDA: Totalmente neutro.</a:t>
            </a:r>
            <a:br/>
            <a:r>
              <a:t>• Transparencia y rigor normativo PGC.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Conciliación Departamental: Presupuestos de Área vs Criterio PGC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280160"/>
                <a:gridCol w="1280160"/>
                <a:gridCol w="1645920"/>
              </a:tblGrid>
              <a:tr h="69233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Departamento / Área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Ppto Depto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Ppto P&amp;L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Diferencia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Conciliación PGC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Compras y Aprovisionamientos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6.120.000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5.919.283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+200.717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Ajuste de consumo real vs compras con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Transportes (Neto Codiagro)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245.670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301.549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-55.879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Exportación (305 k€) repercutida al cliente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Marketing y Comunicación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266.072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49.697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+216.375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Reclasificación ferias y campañas 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Regulatory y Registros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233.918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105.551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+128.367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Registro de marcas UE activable (203/623)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Mantenimiento de Fábrica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91.234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197.422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-106.188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Subcontratación repuestos y revisiones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TOTAL GASTOS DEPARTAMENTOS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6.956.894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6.573.502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+383.392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Conciliado con Estados Financieros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325880"/>
            <a:ext cx="27432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GARANTÍA DE CONTROL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Salvedad de Transporte: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Queda formalmente documentado que el coste de flete internacional no incrementa el OPEX neto de la compañía.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Coordinación Interdepartamental: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Cada responsable de área ha validado su desglose mensual, asegurando compromiso operativo con el techo de gasto.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Criterio Conservador: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Las partidas activables (como registros internacionales de marcas) se han analizado bajo estricto cumplimiento del PGC.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Tracción Inmediata: Validación con el Cierre de Septiembre 2026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OBJETIVO MENSUAL PREVISTO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181.966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F4E79"/>
                </a:solidFill>
              </a:defRPr>
            </a:pPr>
            <a:r>
              <a:t>Presupuesto Septiembre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Cifra calculada sin factores de aplanamiento artificial (+5,2% en unidades originales).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PEDIDOS REALES REGISTRADOS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236.105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66534"/>
                </a:solidFill>
              </a:defRPr>
            </a:pPr>
            <a:r>
              <a:t>+129,8% de Cumplimiento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Sobrecumplimiento neto de +54.139 unidades respecto a la previsión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CAPACIDAD DE SERVICIO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200.331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F4E79"/>
                </a:solidFill>
              </a:defRPr>
            </a:pPr>
            <a:r>
              <a:t>84,8% Servido Inmediato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200k unidades ya expedidas y 35.774 unidades en preparación en fábrica.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74904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IMPORTE NETO FACTURADO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735.161 €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66534"/>
                </a:solidFill>
              </a:defRPr>
            </a:pPr>
            <a:r>
              <a:t>Corte al 01/10/2026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Facturación neta consolidada correspondiente a las órdenes del periodo.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325880"/>
            <a:ext cx="2834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50876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¿QUÉ DEMUESTRA ESTE RESULTADO?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Confianza del Mercado: El salto de demanda anticipa una excelente campaña agrícola 2026/27.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Aceptación de Tarifas: La actualización de precios no ha erosionado la cartera de pedidos de los distribuidores.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Respaldo al Plan 2027: Los 17,18 M€ presupuestados para 2027 están sólidamente fundamentados en tracción real de compra.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Control en Tiempo Real: El nuevo dashboard automatizado permite detectar desviaciones a nivel cliente y SKU al día siguiente.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Gestión de Riesgos y Análisis de Sensibilidad del Escenario Presupuestario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Escenario Optimista (+5% Ventas)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18,04 M€</a:t>
            </a:r>
          </a:p>
          <a:p>
            <a:pPr>
              <a:spcAft>
                <a:spcPts val="400"/>
              </a:spcAft>
              <a:defRPr sz="1100" b="1">
                <a:solidFill>
                  <a:srgbClr val="166534"/>
                </a:solidFill>
              </a:defRPr>
            </a:pPr>
            <a:r>
              <a:t>EBITDA: 7,85 M€ (43,5%)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Mayor penetración internacional y campaña agronómica adelantada.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Escenario Base Presupuestado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17,18 M€</a:t>
            </a:r>
          </a:p>
          <a:p>
            <a:pPr>
              <a:spcAft>
                <a:spcPts val="400"/>
              </a:spcAft>
              <a:defRPr sz="1100" b="1">
                <a:solidFill>
                  <a:srgbClr val="1F4E79"/>
                </a:solidFill>
              </a:defRPr>
            </a:pPr>
            <a:r>
              <a:t>EBITDA: 7,30 M€ (42,5%)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Hipótesis central aprobada, con crecimiento del +13,2% y control de costes.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Escenario Conservador (-5% Ventas)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16,32 M€</a:t>
            </a:r>
          </a:p>
          <a:p>
            <a:pPr>
              <a:spcAft>
                <a:spcPts val="400"/>
              </a:spcAft>
              <a:defRPr sz="1100" b="1">
                <a:solidFill>
                  <a:srgbClr val="B45309"/>
                </a:solidFill>
              </a:defRPr>
            </a:pPr>
            <a:r>
              <a:t>EBITDA: 6,75 M€ (41,4%)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Retraso en pedidos climáticos; margen EBITDA preservado por flexibilidad fabril.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566160"/>
          <a:ext cx="1072865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973775"/>
              </a:tblGrid>
              <a:tr h="6629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 Identificado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Nivel de Impacto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Medida Preventiva / Plan de Mitigación Codiagro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Volatilidad en Precios de Materias Primas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Medio-Alto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Contratos de cobertura y compras anticipadas para el 60% de las necesidades del primer semestre; fórmulas de revisión de precios con distribuidores.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Fricciones Regulatorias y Registro de Marcas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Presupuesto específico de 234 k€ en Regulatory; priorización de expedientes con mayor retorno de margen y apoyo de consultoría externa especializada.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Costes Logísticos y Fletes de Exportación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Bajo (Neutro)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Salvedad contractual: fletes marítimos/aéreos 100% repercutidos en factura comercial al cliente importador, blindando la rentabilidad neta.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Gobernanza y Control de Gestión: Calendario de Seguimiento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ENE - MAR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Q1 2027 · Arranque y Campaña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Lanzamiento de nuevas tarifas y contratos anuales.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Revisión de consumo de materias primas frente al ratio 25,97%.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Cierre y balance del primer trimestre con análisis de desviaciones.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ABR - JUN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Q2 2027 · Pico de Ventas y Envasado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Meses clave de volumen fabril (Mayo y Junio &gt;750 k€ en compras).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Control riguroso de subcontratación y horas de planta.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Revisión semestral del plan de marketing y asistencia a ferias.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JUL - SEP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Q3 2027 · Campaña de Otoño y Export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Cierre del verano y arranque de pedidos de otoño.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Actualización del Rolling Forecast 2027/2028.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Auditoría intermedia de stock de envases y palets.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OCT - DIC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Q4 2027 · Cierre y Regularización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Regularización de rappels anuales y convenios comerciales.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Inventario físico anual y ajuste de variación de existencias.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Aprobación definitiva de cuentas del ejercicio.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Conclusiones y Decisiones Solicitadas a Dirección General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1. APROBACIÓN DEL MARCO FINANCIERO 2027  [Presupuesto Oficial]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Aprobar la meta de Cifra Neta de Negocios en 17,18 M€ (+13,2% vs 2026).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Ratificar el objetivo de EBITDA Ajustado en 7,30 M€ (42,5% de margen).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Validar el techo de gasto de aprovisionamientos (COGS) en 5,92 M€.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</a:defRPr>
            </a:pPr>
            <a:r>
              <a:t>2. AUTORIZACIÓN DE INVERSIONES Y ESTRUCTURA  [Plan de Recursos]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Aprobar el presupuesto de personal de 2,23 M€ con refuerzo técnico y fabril.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Validar la dotación de 266 k€ para Marketing estratégico y ferias sectoriales.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Autorizar la partida de 234 k€ en Regulatory para protección y registros internacionales.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360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</a:defRPr>
            </a:pPr>
            <a:r>
              <a:t>3. CRITERIOS DE SEGUIMIENTO Y GOBERNANZA  [Control y Reporting]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Adopción del nuevo Dashboard Web de Control Presupuestario como herramienta oficial de monitorización continua.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Revisión formal trimestral con Dirección de cada zona comercial.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Mantenimiento de la política de neutralidad en transporte exterior repercutido.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