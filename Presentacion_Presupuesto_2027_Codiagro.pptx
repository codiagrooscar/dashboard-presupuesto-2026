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463040"/>
            <a:ext cx="109728" cy="3931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diagro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463040"/>
            <a:ext cx="3121572" cy="822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2468880"/>
            <a:ext cx="9601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0B981"/>
                </a:solidFill>
                <a:latin typeface="Calibri"/>
              </a:defRPr>
            </a:pPr>
            <a:r>
              <a:t>PLAN ESTRATÉGICO &amp; CONTROL DE GESTIÓN</a:t>
            </a:r>
          </a:p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PRESUPUESTO 2027 &amp;</a:t>
            </a:r>
            <a:br/>
            <a:r>
              <a:t>CIERRE FORECAST 2026</a:t>
            </a:r>
          </a:p>
          <a:p>
            <a:pPr>
              <a:spcAft>
                <a:spcPts val="2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Visión Integral: Cifra de Negocios, Rentabilidad Operativa (EBITDA), Estructura de Gastos y Desempeño Comercial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CODIAGRO AGROQUÍMICA S.L.  |  Presentación para Dirección General  |  Octubre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Calibri"/>
              </a:defRPr>
            </a:pPr>
            <a:r>
              <a:t>CODIAGRO · CONTROL PRESUPUESTARIO 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Resumen Ejecutivo: Los 5 Pilares del Presupuesto 2027</a:t>
            </a:r>
          </a:p>
        </p:txBody>
      </p:sp>
      <p:pic>
        <p:nvPicPr>
          <p:cNvPr id="6" name="Picture 5" descr="codiagro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01168"/>
            <a:ext cx="2254469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Codiagro S.L. | Informe Confidencial para Dirección General · Presupuesto 2027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2029968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325880"/>
            <a:ext cx="2029968" cy="41148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325880"/>
            <a:ext cx="202996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1. Crecimiento Sostenido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920240"/>
            <a:ext cx="1847088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B2545"/>
                </a:solidFill>
              </a:defRPr>
            </a:pPr>
            <a:r>
              <a:t>17,18 M€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651760"/>
            <a:ext cx="184708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F4E79"/>
                </a:solidFill>
              </a:defRPr>
            </a:pPr>
            <a:r>
              <a:t>+13,2% (+2,00 M€)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154680"/>
            <a:ext cx="1755648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F172A"/>
                </a:solidFill>
              </a:defRPr>
            </a:pPr>
            <a:r>
              <a:t>Incremento del volumen comercial (+8,1% en unidades) y consolidación de precios medios y mix por productos de alta tecnología nutricional.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26080" y="1325880"/>
            <a:ext cx="2029968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926080" y="1325880"/>
            <a:ext cx="2029968" cy="411480"/>
          </a:xfrm>
          <a:prstGeom prst="round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26080" y="1325880"/>
            <a:ext cx="202996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2. EBITDA Récord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1920240"/>
            <a:ext cx="1847088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B2545"/>
                </a:solidFill>
              </a:defRPr>
            </a:pPr>
            <a:r>
              <a:t>7,30 M€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2651760"/>
            <a:ext cx="184708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42,5% Margen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3154680"/>
            <a:ext cx="1755648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F172A"/>
                </a:solidFill>
              </a:defRPr>
            </a:pPr>
            <a:r>
              <a:t>El beneficio operativo crece +874 k€ (+13,6% vs 2026), preservando un margen de rentabilidad récord del 42,5% sobre ingresos.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20640" y="1325880"/>
            <a:ext cx="2029968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120640" y="1325880"/>
            <a:ext cx="2029968" cy="41148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0" y="1325880"/>
            <a:ext cx="202996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3. Margen Bruto Fuerte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1920240"/>
            <a:ext cx="1847088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B2545"/>
                </a:solidFill>
              </a:defRPr>
            </a:pPr>
            <a:r>
              <a:t>65,5%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2651760"/>
            <a:ext cx="184708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F4E79"/>
                </a:solidFill>
              </a:defRPr>
            </a:pPr>
            <a:r>
              <a:t>11,26 M€ Bruto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7800" y="3154680"/>
            <a:ext cx="1755648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F172A"/>
                </a:solidFill>
              </a:defRPr>
            </a:pPr>
            <a:r>
              <a:t>Absorción íntegra de la inflación de materias primas (+4,5%) gracias a economías de escala fabriles y optimización en compras.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0" y="1325880"/>
            <a:ext cx="2029968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315200" y="1325880"/>
            <a:ext cx="2029968" cy="41148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0" y="1325880"/>
            <a:ext cx="202996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4. Eficiencia de OPEX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1920240"/>
            <a:ext cx="1847088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B2545"/>
                </a:solidFill>
              </a:defRPr>
            </a:pPr>
            <a:r>
              <a:t>13,0%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2651760"/>
            <a:ext cx="184708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F4E79"/>
                </a:solidFill>
              </a:defRPr>
            </a:pPr>
            <a:r>
              <a:t>Coste Personal/Vtas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2360" y="3154680"/>
            <a:ext cx="1755648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F172A"/>
                </a:solidFill>
              </a:defRPr>
            </a:pPr>
            <a:r>
              <a:t>Gastos de estructura bajo control. La masa salarial (2,23 M€) reduce su peso relativo en ventas del 13,2% (2026) al 13,0% (2027).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509760" y="1325880"/>
            <a:ext cx="2029968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509760" y="1325880"/>
            <a:ext cx="2029968" cy="411480"/>
          </a:xfrm>
          <a:prstGeom prst="round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09760" y="1325880"/>
            <a:ext cx="202996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5. Tracción Inmediata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0" y="1920240"/>
            <a:ext cx="1847088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B2545"/>
                </a:solidFill>
              </a:defRPr>
            </a:pPr>
            <a:r>
              <a:t>129,8%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0" y="2651760"/>
            <a:ext cx="184708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Cierre Sep-26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46920" y="3154680"/>
            <a:ext cx="1755648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F172A"/>
                </a:solidFill>
              </a:defRPr>
            </a:pPr>
            <a:r>
              <a:t>La demanda actual valida la ambición del plan: Septiembre 2026 cierra con 236.105 uds pedidas vs 181.966 presupuestadas (+29,8%).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Calibri"/>
              </a:defRPr>
            </a:pPr>
            <a:r>
              <a:t>CODIAGRO · CONTROL PRESUPUESTARIO 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Cuenta de Resultados (P&amp;L): Cierre 2026 Forecast vs Presupuesto 2027</a:t>
            </a:r>
          </a:p>
        </p:txBody>
      </p:sp>
      <p:pic>
        <p:nvPicPr>
          <p:cNvPr id="6" name="Picture 5" descr="codiagro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01168"/>
            <a:ext cx="2254469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Codiagro S.L. | Informe Confidencial para Dirección General · Presupuesto 2027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325880"/>
          <a:ext cx="758952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005840"/>
                <a:gridCol w="1005840"/>
                <a:gridCol w="1005840"/>
                <a:gridCol w="1005840"/>
                <a:gridCol w="1005840"/>
              </a:tblGrid>
              <a:tr h="440574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Línea P&amp;L (en miles de €)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2026 FC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% Vtas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2027 B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% Vtas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Var (€ / %)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B2545"/>
                          </a:solidFill>
                          <a:latin typeface="Calibri"/>
                        </a:defRPr>
                      </a:pPr>
                      <a:r>
                        <a:t>1. Cifra Neta de Negocios (Ventas)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B2545"/>
                          </a:solidFill>
                          <a:latin typeface="Calibri"/>
                        </a:defRPr>
                      </a:pPr>
                      <a:r>
                        <a:t>15.180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B2545"/>
                          </a:solidFill>
                          <a:latin typeface="Calibri"/>
                        </a:defRPr>
                      </a:pPr>
                      <a:r>
                        <a:t>100,0%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B2545"/>
                          </a:solidFill>
                          <a:latin typeface="Calibri"/>
                        </a:defRPr>
                      </a:pPr>
                      <a:r>
                        <a:t>17.180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B2545"/>
                          </a:solidFill>
                          <a:latin typeface="Calibri"/>
                        </a:defRPr>
                      </a:pPr>
                      <a:r>
                        <a:t>100,0%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B2545"/>
                          </a:solidFill>
                          <a:latin typeface="Calibri"/>
                        </a:defRPr>
                      </a:pPr>
                      <a:r>
                        <a:t>+2.000 (+13,2%)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2. Coste de las Ventas (COGS)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-5.234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34,5%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-5.919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34,5%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-686 (+13,1%)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B2545"/>
                          </a:solidFill>
                          <a:latin typeface="Calibri"/>
                        </a:defRPr>
                      </a:pPr>
                      <a:r>
                        <a:t>3. Margen Bruto (Gross Profit)</a:t>
                      </a:r>
                    </a:p>
                  </a:txBody>
                  <a:tcPr anchor="ctr">
                    <a:solidFill>
                      <a:srgbClr val="DCEEE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B2545"/>
                          </a:solidFill>
                          <a:latin typeface="Calibri"/>
                        </a:defRPr>
                      </a:pPr>
                      <a:r>
                        <a:t>9.946</a:t>
                      </a:r>
                    </a:p>
                  </a:txBody>
                  <a:tcPr anchor="ctr">
                    <a:solidFill>
                      <a:srgbClr val="DCEEE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B2545"/>
                          </a:solidFill>
                          <a:latin typeface="Calibri"/>
                        </a:defRPr>
                      </a:pPr>
                      <a:r>
                        <a:t>65,5%</a:t>
                      </a:r>
                    </a:p>
                  </a:txBody>
                  <a:tcPr anchor="ctr">
                    <a:solidFill>
                      <a:srgbClr val="DCEEE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B2545"/>
                          </a:solidFill>
                          <a:latin typeface="Calibri"/>
                        </a:defRPr>
                      </a:pPr>
                      <a:r>
                        <a:t>11.261</a:t>
                      </a:r>
                    </a:p>
                  </a:txBody>
                  <a:tcPr anchor="ctr">
                    <a:solidFill>
                      <a:srgbClr val="DCEEE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B2545"/>
                          </a:solidFill>
                          <a:latin typeface="Calibri"/>
                        </a:defRPr>
                      </a:pPr>
                      <a:r>
                        <a:t>65,5%</a:t>
                      </a:r>
                    </a:p>
                  </a:txBody>
                  <a:tcPr anchor="ctr">
                    <a:solidFill>
                      <a:srgbClr val="DCEEE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B2545"/>
                          </a:solidFill>
                          <a:latin typeface="Calibri"/>
                        </a:defRPr>
                      </a:pPr>
                      <a:r>
                        <a:t>+1.315 (+13,2%)</a:t>
                      </a:r>
                    </a:p>
                  </a:txBody>
                  <a:tcPr anchor="ctr">
                    <a:solidFill>
                      <a:srgbClr val="DCEEE1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4. Gastos de Personal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-2.007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13,2%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-2.229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13,0%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-222 (+11,1%)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5. Otros Ingresos Operativos (Export Transp)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+169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1,1%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+305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1,8%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+137 (+81,1%)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6. Otros Gastos Operativos (Opex)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-1.684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11,1%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-2.038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11,9%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-355 (+21,0%)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7. Total Gastos Fijos (OPEX Neto)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-3.522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23,2%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-3.962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23,1%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-440 (+12,5%)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B2545"/>
                          </a:solidFill>
                          <a:latin typeface="Calibri"/>
                        </a:defRPr>
                      </a:pPr>
                      <a:r>
                        <a:t>8. EBITDA Ajustado</a:t>
                      </a:r>
                    </a:p>
                  </a:txBody>
                  <a:tcPr anchor="ctr">
                    <a:solidFill>
                      <a:srgbClr val="DCEEE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B2545"/>
                          </a:solidFill>
                          <a:latin typeface="Calibri"/>
                        </a:defRPr>
                      </a:pPr>
                      <a:r>
                        <a:t>6.424</a:t>
                      </a:r>
                    </a:p>
                  </a:txBody>
                  <a:tcPr anchor="ctr">
                    <a:solidFill>
                      <a:srgbClr val="DCEEE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B2545"/>
                          </a:solidFill>
                          <a:latin typeface="Calibri"/>
                        </a:defRPr>
                      </a:pPr>
                      <a:r>
                        <a:t>42,3%</a:t>
                      </a:r>
                    </a:p>
                  </a:txBody>
                  <a:tcPr anchor="ctr">
                    <a:solidFill>
                      <a:srgbClr val="DCEEE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B2545"/>
                          </a:solidFill>
                          <a:latin typeface="Calibri"/>
                        </a:defRPr>
                      </a:pPr>
                      <a:r>
                        <a:t>7.299</a:t>
                      </a:r>
                    </a:p>
                  </a:txBody>
                  <a:tcPr anchor="ctr">
                    <a:solidFill>
                      <a:srgbClr val="DCEEE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B2545"/>
                          </a:solidFill>
                          <a:latin typeface="Calibri"/>
                        </a:defRPr>
                      </a:pPr>
                      <a:r>
                        <a:t>42,5%</a:t>
                      </a:r>
                    </a:p>
                  </a:txBody>
                  <a:tcPr anchor="ctr">
                    <a:solidFill>
                      <a:srgbClr val="DCEEE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B2545"/>
                          </a:solidFill>
                          <a:latin typeface="Calibri"/>
                        </a:defRPr>
                      </a:pPr>
                      <a:r>
                        <a:t>+874 (+13,6%)</a:t>
                      </a:r>
                    </a:p>
                  </a:txBody>
                  <a:tcPr anchor="ctr">
                    <a:solidFill>
                      <a:srgbClr val="DCEEE1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9. Amortizaciones y Depreciaciones (D&amp;A)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-230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1,5%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-231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1,3%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-1 (+0,4%)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405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B2545"/>
                          </a:solidFill>
                          <a:latin typeface="Calibri"/>
                        </a:defRPr>
                      </a:pPr>
                      <a:r>
                        <a:t>10. EBIT Ajustado (Resultado Operativo)</a:t>
                      </a:r>
                    </a:p>
                  </a:txBody>
                  <a:tcPr anchor="ctr">
                    <a:solidFill>
                      <a:srgbClr val="DCEEE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B2545"/>
                          </a:solidFill>
                          <a:latin typeface="Calibri"/>
                        </a:defRPr>
                      </a:pPr>
                      <a:r>
                        <a:t>6.195</a:t>
                      </a:r>
                    </a:p>
                  </a:txBody>
                  <a:tcPr anchor="ctr">
                    <a:solidFill>
                      <a:srgbClr val="DCEEE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B2545"/>
                          </a:solidFill>
                          <a:latin typeface="Calibri"/>
                        </a:defRPr>
                      </a:pPr>
                      <a:r>
                        <a:t>40,8%</a:t>
                      </a:r>
                    </a:p>
                  </a:txBody>
                  <a:tcPr anchor="ctr">
                    <a:solidFill>
                      <a:srgbClr val="DCEEE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B2545"/>
                          </a:solidFill>
                          <a:latin typeface="Calibri"/>
                        </a:defRPr>
                      </a:pPr>
                      <a:r>
                        <a:t>7.068</a:t>
                      </a:r>
                    </a:p>
                  </a:txBody>
                  <a:tcPr anchor="ctr">
                    <a:solidFill>
                      <a:srgbClr val="DCEEE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B2545"/>
                          </a:solidFill>
                          <a:latin typeface="Calibri"/>
                        </a:defRPr>
                      </a:pPr>
                      <a:r>
                        <a:t>41,1%</a:t>
                      </a:r>
                    </a:p>
                  </a:txBody>
                  <a:tcPr anchor="ctr">
                    <a:solidFill>
                      <a:srgbClr val="DCEEE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B2545"/>
                          </a:solidFill>
                          <a:latin typeface="Calibri"/>
                        </a:defRPr>
                      </a:pPr>
                      <a:r>
                        <a:t>+873 (+14,1%)</a:t>
                      </a:r>
                    </a:p>
                  </a:txBody>
                  <a:tcPr anchor="ctr">
                    <a:solidFill>
                      <a:srgbClr val="DCEEE1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503920" y="1325880"/>
            <a:ext cx="2926080" cy="2331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0" y="1463040"/>
            <a:ext cx="2560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RENTABILIDAD OPERATIVA</a:t>
            </a:r>
          </a:p>
          <a:p>
            <a:pPr>
              <a:defRPr sz="2800" b="1">
                <a:solidFill>
                  <a:srgbClr val="0B2545"/>
                </a:solidFill>
              </a:defRPr>
            </a:pPr>
            <a:r>
              <a:t>7,30 M€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EBITDA récord en la historia de la compañía (+13,6% vs 2026), preservando un margen excelente del 42,5% a pesar de la inflación de suministros y refuerzos operativos.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3840480"/>
            <a:ext cx="2926080" cy="2331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0" y="3977639"/>
            <a:ext cx="2560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4E79"/>
                </a:solidFill>
              </a:defRPr>
            </a:pPr>
            <a:r>
              <a:t>APALANCAMIENTO OPERATIVO</a:t>
            </a:r>
          </a:p>
          <a:p>
            <a:pPr>
              <a:defRPr sz="2800" b="1">
                <a:solidFill>
                  <a:srgbClr val="0B2545"/>
                </a:solidFill>
              </a:defRPr>
            </a:pPr>
            <a:r>
              <a:t>+2,00 M€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Crecimiento en ingresos (+13,2%) sostenido en España y mercados clave de exportación, convirtiendo cada euro extra de venta en 44 céntimos de EBITDA adicional.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Calibri"/>
              </a:defRPr>
            </a:pPr>
            <a:r>
              <a:t>CODIAGRO · CONTROL PRESUPUESTARIO 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Desglose Comercial: Objetivos de Ventas 2027 por Zona y Gestor</a:t>
            </a:r>
          </a:p>
        </p:txBody>
      </p:sp>
      <p:pic>
        <p:nvPicPr>
          <p:cNvPr id="6" name="Picture 5" descr="codiagro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01168"/>
            <a:ext cx="2254469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Codiagro S.L. | Informe Confidencial para Dirección General · Presupuesto 2027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325880"/>
          <a:ext cx="777240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097280"/>
                <a:gridCol w="1097280"/>
                <a:gridCol w="914400"/>
                <a:gridCol w="1005840"/>
                <a:gridCol w="1005840"/>
                <a:gridCol w="1097280"/>
              </a:tblGrid>
              <a:tr h="5384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Comercial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2026 (€)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2027 (€)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Var (€)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Var (Uds)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Cuota '27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Mercado Clave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García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5.758.078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6.425.613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+11,6%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+7,6%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37,4%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España Centro-Sur / Clientes 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Ricardo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3.824.612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4.281.919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+12,0%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+6,6%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24,9%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Levante / Distribución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Mehmet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1.778.148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2.027.764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+14,0%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+7,5%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11,8%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Exportación Internacional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Pedro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1.239.220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1.413.541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+14,1%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+9,3%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8,2%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Zona Norte / Agroindustria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Irene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1.077.392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1.251.434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+16,2%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+11,2%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7,3%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Bioestimulantes / Especialidades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Javier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973.009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1.142.039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+17,4%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+13,6%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6,6%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Cultivos Leñosos y Frutales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Alfonso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529.543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637.691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+20,4%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+13,8%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3,7%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Nuevas Cuentas / Expansión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B2545"/>
                          </a:solidFill>
                          <a:latin typeface="Calibri"/>
                        </a:defRPr>
                      </a:pPr>
                      <a:r>
                        <a:t>TOTAL CODIAGRO</a:t>
                      </a:r>
                    </a:p>
                  </a:txBody>
                  <a:tcPr anchor="ctr">
                    <a:solidFill>
                      <a:srgbClr val="DCEEE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B2545"/>
                          </a:solidFill>
                          <a:latin typeface="Calibri"/>
                        </a:defRPr>
                      </a:pPr>
                      <a:r>
                        <a:t>15.180.000</a:t>
                      </a:r>
                    </a:p>
                  </a:txBody>
                  <a:tcPr anchor="ctr">
                    <a:solidFill>
                      <a:srgbClr val="DCEEE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B2545"/>
                          </a:solidFill>
                          <a:latin typeface="Calibri"/>
                        </a:defRPr>
                      </a:pPr>
                      <a:r>
                        <a:t>17.180.000</a:t>
                      </a:r>
                    </a:p>
                  </a:txBody>
                  <a:tcPr anchor="ctr">
                    <a:solidFill>
                      <a:srgbClr val="DCEEE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B2545"/>
                          </a:solidFill>
                          <a:latin typeface="Calibri"/>
                        </a:defRPr>
                      </a:pPr>
                      <a:r>
                        <a:t>+13,2%</a:t>
                      </a:r>
                    </a:p>
                  </a:txBody>
                  <a:tcPr anchor="ctr">
                    <a:solidFill>
                      <a:srgbClr val="DCEEE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B2545"/>
                          </a:solidFill>
                          <a:latin typeface="Calibri"/>
                        </a:defRPr>
                      </a:pPr>
                      <a:r>
                        <a:t>+8,1%</a:t>
                      </a:r>
                    </a:p>
                  </a:txBody>
                  <a:tcPr anchor="ctr">
                    <a:solidFill>
                      <a:srgbClr val="DCEEE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B2545"/>
                          </a:solidFill>
                          <a:latin typeface="Calibri"/>
                        </a:defRPr>
                      </a:pPr>
                      <a:r>
                        <a:t>100,0%</a:t>
                      </a:r>
                    </a:p>
                  </a:txBody>
                  <a:tcPr anchor="ctr">
                    <a:solidFill>
                      <a:srgbClr val="DCEEE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B2545"/>
                          </a:solidFill>
                          <a:latin typeface="Calibri"/>
                        </a:defRPr>
                      </a:pPr>
                      <a:r>
                        <a:t>Consolidado Comercial</a:t>
                      </a:r>
                    </a:p>
                  </a:txBody>
                  <a:tcPr anchor="ctr">
                    <a:solidFill>
                      <a:srgbClr val="DCEEE1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686800" y="1325880"/>
            <a:ext cx="274320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0" y="1463040"/>
            <a:ext cx="2377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B2545"/>
                </a:solidFill>
              </a:defRPr>
            </a:pPr>
            <a:r>
              <a:t>CLAVES COMERCIALES 2027</a:t>
            </a:r>
          </a:p>
          <a:p>
            <a:pPr>
              <a:spcBef>
                <a:spcPts val="800"/>
              </a:spcBef>
              <a:defRPr b="1" sz="1000">
                <a:solidFill>
                  <a:srgbClr val="166534"/>
                </a:solidFill>
              </a:defRPr>
            </a:pPr>
            <a:r>
              <a:t>Liderazgo Consolidado: 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García y Ricardo representan el 62,3% de la cifra global (10,71 M€), garantizando solidez y tracción en el negocio recurrente.</a:t>
            </a:r>
          </a:p>
          <a:p>
            <a:pPr>
              <a:spcBef>
                <a:spcPts val="800"/>
              </a:spcBef>
              <a:defRPr b="1" sz="1000">
                <a:solidFill>
                  <a:srgbClr val="166534"/>
                </a:solidFill>
              </a:defRPr>
            </a:pPr>
            <a:r>
              <a:t>Acelerador Exportación: 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Mehmet supera los 2,02 M€ (+14,0% en € / +7,5% en volumen), consolidando mercados exteriores clave con ratios ajustados.</a:t>
            </a:r>
          </a:p>
          <a:p>
            <a:pPr>
              <a:spcBef>
                <a:spcPts val="800"/>
              </a:spcBef>
              <a:defRPr b="1" sz="1000">
                <a:solidFill>
                  <a:srgbClr val="166534"/>
                </a:solidFill>
              </a:defRPr>
            </a:pPr>
            <a:r>
              <a:t>Dinamismo en Red: 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Alfonso (+20,4%), Javier (+17,4%) e Irene (+16,2%) potencian la venta técnica de gamas biológicas de alto margen.</a:t>
            </a:r>
          </a:p>
          <a:p>
            <a:pPr>
              <a:spcBef>
                <a:spcPts val="800"/>
              </a:spcBef>
              <a:defRPr b="1" sz="1000">
                <a:solidFill>
                  <a:srgbClr val="166534"/>
                </a:solidFill>
              </a:defRPr>
            </a:pPr>
            <a:r>
              <a:t>Ajuste Quirúrgico Opción 4: 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El plan 2027 refleja el ajuste a 17,18 M€, eliminando sobreexpectativas en Turquía, Egipto, Chile y Grecia.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Calibri"/>
              </a:defRPr>
            </a:pPr>
            <a:r>
              <a:t>CODIAGRO · CONTROL PRESUPUESTARIO 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Estructura de Aprovisionamientos y Margen Bruto (COGS)</a:t>
            </a:r>
          </a:p>
        </p:txBody>
      </p:sp>
      <p:pic>
        <p:nvPicPr>
          <p:cNvPr id="6" name="Picture 5" descr="codiagro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01168"/>
            <a:ext cx="2254469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Codiagro S.L. | Informe Confidencial para Dirección General · Presupuesto 2027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685800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35608"/>
            <a:ext cx="6492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B2545"/>
                </a:solidFill>
              </a:defRPr>
            </a:pPr>
            <a:r>
              <a:t>Materias Primas (601): 4.462 k€  (25,97% s/ventas)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Consumo directo en formulación química. Se traslada un +4,5% de inflación contenida en 2027.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14600"/>
            <a:ext cx="685800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624328"/>
            <a:ext cx="6492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B2545"/>
                </a:solidFill>
              </a:defRPr>
            </a:pPr>
            <a:r>
              <a:t>Envases y Embalajes (602001): 921 k€  (5,36% s/ventas)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Bidones, garrafas y contenedores IBC. Optimización de compras con acuerdos marco.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703320"/>
            <a:ext cx="685800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13048"/>
            <a:ext cx="6492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B2545"/>
                </a:solidFill>
              </a:defRPr>
            </a:pPr>
            <a:r>
              <a:t>Etiquetas y Palets (602002/3): 303 k€  (1,76% s/ventas)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Materiales auxiliares y consumibles logísticos vinculados al envasado en planta.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892040"/>
            <a:ext cx="685800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001768"/>
            <a:ext cx="6492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B2545"/>
                </a:solidFill>
              </a:defRPr>
            </a:pPr>
            <a:r>
              <a:t>Subcontratación y Fabril (607): 233 k€  (1,36% s/ventas)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Refuerzo puntual en picos de demanda estacional para maximizar servicio sin sobrecargar estructura fija.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1325880"/>
            <a:ext cx="3566160" cy="484632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0" y="1508760"/>
            <a:ext cx="3200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66534"/>
                </a:solidFill>
              </a:defRPr>
            </a:pPr>
            <a:r>
              <a:t>SÍNTESIS DE MARGEN BRUTO</a:t>
            </a:r>
          </a:p>
          <a:p>
            <a:pPr>
              <a:spcBef>
                <a:spcPts val="600"/>
              </a:spcBef>
              <a:defRPr sz="3600" b="1">
                <a:solidFill>
                  <a:srgbClr val="0B2545"/>
                </a:solidFill>
              </a:defRPr>
            </a:pPr>
            <a:r>
              <a:t>67,3%</a:t>
            </a:r>
          </a:p>
          <a:p>
            <a:pPr>
              <a:spcAft>
                <a:spcPts val="1400"/>
              </a:spcAft>
              <a:defRPr sz="1200" b="1">
                <a:solidFill>
                  <a:srgbClr val="10B981"/>
                </a:solidFill>
              </a:defRPr>
            </a:pPr>
            <a:r>
              <a:t>11.565.940 € de Gross Profit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El Gross Profit en euros se incrementa en +1,45 M€ (+14,3% vs cierre 2026), alcanzando una tasa récord del 67,32% sobre ventas.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La contención del incremento de compras al +4,5% estricto de inflación preserva intacto el valor añadido generado en fábrica.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Mayor aportación del mix de bioestimulantes y formulaciones de alto rendimiento tecnológico en cartera.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Calibri"/>
              </a:defRPr>
            </a:pPr>
            <a:r>
              <a:t>CODIAGRO · CONTROL PRESUPUESTARIO 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Estructura Operativa: Gastos de Personal y Gastos Fijos (OPEX)</a:t>
            </a:r>
          </a:p>
        </p:txBody>
      </p:sp>
      <p:pic>
        <p:nvPicPr>
          <p:cNvPr id="6" name="Picture 5" descr="codiagro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01168"/>
            <a:ext cx="2254469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Codiagro S.L. | Informe Confidencial para Dirección General · Presupuesto 2027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342900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63040"/>
            <a:ext cx="3154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4E79"/>
                </a:solidFill>
              </a:defRPr>
            </a:pPr>
            <a:r>
              <a:t>GASTOS DE PERSONAL</a:t>
            </a:r>
          </a:p>
          <a:p>
            <a:pPr>
              <a:defRPr sz="2400" b="1">
                <a:solidFill>
                  <a:srgbClr val="0B2545"/>
                </a:solidFill>
              </a:defRPr>
            </a:pPr>
            <a:r>
              <a:t>2.228.610 €</a:t>
            </a:r>
          </a:p>
          <a:p>
            <a:pPr>
              <a:spcAft>
                <a:spcPts val="1200"/>
              </a:spcAft>
              <a:defRPr sz="1100" b="1">
                <a:solidFill>
                  <a:srgbClr val="166534"/>
                </a:solidFill>
              </a:defRPr>
            </a:pPr>
            <a:r>
              <a:t>12,97% de Ventas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Incremento de +222 k€ (+11,1% vs 2026) motivado por:</a:t>
            </a:r>
            <a:br/>
            <a:r>
              <a:t>• Actualización salarial convenio químico y antigüedad.</a:t>
            </a:r>
            <a:br/>
            <a:r>
              <a:t>• Refuerzo del equipo técnico de desarrollo agronómico en campo.</a:t>
            </a:r>
            <a:br/>
            <a:r>
              <a:t>• Nueva incorporación en planta para absorber mayor ritmo de envasado.</a:t>
            </a:r>
            <a:br/>
            <a:r>
              <a:t>• Mejora de eficiencia: el peso s/ventas se reduce del 13,22% al 12,97%.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325880"/>
            <a:ext cx="342900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463040"/>
            <a:ext cx="3154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4E79"/>
                </a:solidFill>
              </a:defRPr>
            </a:pPr>
            <a:r>
              <a:t>OTROS GASTOS OPERATIVOS</a:t>
            </a:r>
          </a:p>
          <a:p>
            <a:pPr>
              <a:defRPr sz="2400" b="1">
                <a:solidFill>
                  <a:srgbClr val="0B2545"/>
                </a:solidFill>
              </a:defRPr>
            </a:pPr>
            <a:r>
              <a:t>2.038.489 €</a:t>
            </a:r>
          </a:p>
          <a:p>
            <a:pPr>
              <a:spcAft>
                <a:spcPts val="1200"/>
              </a:spcAft>
              <a:defRPr sz="1100" b="1">
                <a:solidFill>
                  <a:srgbClr val="1F4E79"/>
                </a:solidFill>
              </a:defRPr>
            </a:pPr>
            <a:r>
              <a:t>11,87% de Ventas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Partidas de funcionamiento diario y red comercial:</a:t>
            </a:r>
            <a:br/>
            <a:r>
              <a:t>• Formación no bonificada: 53.215 € (4.435 €/mes).</a:t>
            </a:r>
            <a:br/>
            <a:r>
              <a:t>• Gastos comerciales: 92.400 € (Pere, Ricardo y García a 2.000 €/m; Javier 1.200 €/m; Irene y Pedro 600 €/m; Ago 50%, Ene/Dic 75%).</a:t>
            </a:r>
            <a:br/>
            <a:r>
              <a:t>• Marketing y Ferias: 266 k€ | Regulatory: 234 k€ | Transporte neto: 246 k€.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325880"/>
            <a:ext cx="342900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1463040"/>
            <a:ext cx="3154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OTROS INGRESOS OPERATIVOS</a:t>
            </a:r>
          </a:p>
          <a:p>
            <a:pPr>
              <a:defRPr sz="2400" b="1">
                <a:solidFill>
                  <a:srgbClr val="0B2545"/>
                </a:solidFill>
              </a:defRPr>
            </a:pPr>
            <a:r>
              <a:t>305.223 €</a:t>
            </a:r>
          </a:p>
          <a:p>
            <a:pPr>
              <a:spcAft>
                <a:spcPts val="1200"/>
              </a:spcAft>
              <a:defRPr sz="1100" b="1">
                <a:solidFill>
                  <a:srgbClr val="1F4E79"/>
                </a:solidFill>
              </a:defRPr>
            </a:pPr>
            <a:r>
              <a:t>Compensación Export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Salvedad contable de transporte:</a:t>
            </a:r>
            <a:br/>
            <a:r>
              <a:t>• Los fletes marítimos y aéreos de exportación se facturan íntegramente al cliente exterior en factura de venta (700001624).</a:t>
            </a:r>
            <a:br/>
            <a:r>
              <a:t>• Impacto en EBITDA: Totalmente neutro.</a:t>
            </a:r>
            <a:br/>
            <a:r>
              <a:t>• Transparencia y rigor normativo PGC.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Calibri"/>
              </a:defRPr>
            </a:pPr>
            <a:r>
              <a:t>CODIAGRO · CONTROL PRESUPUESTARIO 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Conciliación Departamental: Presupuestos de Área vs Criterio PGC</a:t>
            </a:r>
          </a:p>
        </p:txBody>
      </p:sp>
      <p:pic>
        <p:nvPicPr>
          <p:cNvPr id="6" name="Picture 5" descr="codiagro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01168"/>
            <a:ext cx="2254469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Codiagro S.L. | Informe Confidencial para Dirección General · Presupuesto 2027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325880"/>
          <a:ext cx="777240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280160"/>
                <a:gridCol w="1280160"/>
                <a:gridCol w="1280160"/>
                <a:gridCol w="1645920"/>
              </a:tblGrid>
              <a:tr h="692331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Departamento / Área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Ppto Depto (€)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Ppto P&amp;L (€)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Diferencia (€)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Criterio de Conciliación PGC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Compras y Aprovisionamientos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6.120.000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5.919.283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+200.717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Ajuste de consumo real vs compras con stock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Transportes (Neto Codiagro)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245.670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301.549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-55.879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Exportación (305 k€) repercutida al cliente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Marketing y Comunicación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266.072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49.697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+216.375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Reclasificación ferias y campañas 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Regulatory y Registros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233.918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105.551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+128.367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Registro de marcas UE activable (203/623)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Mantenimiento de Fábrica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91.234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197.422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-106.188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Subcontratación repuestos y revisiones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9233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B2545"/>
                          </a:solidFill>
                          <a:latin typeface="Calibri"/>
                        </a:defRPr>
                      </a:pPr>
                      <a:r>
                        <a:t>TOTAL GASTOS DEPARTAMENTOS</a:t>
                      </a:r>
                    </a:p>
                  </a:txBody>
                  <a:tcPr anchor="ctr">
                    <a:solidFill>
                      <a:srgbClr val="DCEEE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0B2545"/>
                          </a:solidFill>
                          <a:latin typeface="Calibri"/>
                        </a:defRPr>
                      </a:pPr>
                      <a:r>
                        <a:t>6.956.894</a:t>
                      </a:r>
                    </a:p>
                  </a:txBody>
                  <a:tcPr anchor="ctr">
                    <a:solidFill>
                      <a:srgbClr val="DCEEE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0B2545"/>
                          </a:solidFill>
                          <a:latin typeface="Calibri"/>
                        </a:defRPr>
                      </a:pPr>
                      <a:r>
                        <a:t>6.573.502</a:t>
                      </a:r>
                    </a:p>
                  </a:txBody>
                  <a:tcPr anchor="ctr">
                    <a:solidFill>
                      <a:srgbClr val="DCEEE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0B2545"/>
                          </a:solidFill>
                          <a:latin typeface="Calibri"/>
                        </a:defRPr>
                      </a:pPr>
                      <a:r>
                        <a:t>+383.392</a:t>
                      </a:r>
                    </a:p>
                  </a:txBody>
                  <a:tcPr anchor="ctr">
                    <a:solidFill>
                      <a:srgbClr val="DCEEE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0B2545"/>
                          </a:solidFill>
                          <a:latin typeface="Calibri"/>
                        </a:defRPr>
                      </a:pPr>
                      <a:r>
                        <a:t>Conciliado con Estados Financieros</a:t>
                      </a:r>
                    </a:p>
                  </a:txBody>
                  <a:tcPr anchor="ctr">
                    <a:solidFill>
                      <a:srgbClr val="DCEEE1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686800" y="1325880"/>
            <a:ext cx="274320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0" y="1463040"/>
            <a:ext cx="2377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B2545"/>
                </a:solidFill>
              </a:defRPr>
            </a:pPr>
            <a:r>
              <a:t>GARANTÍA DE CONTROL</a:t>
            </a:r>
          </a:p>
          <a:p>
            <a:pPr>
              <a:spcBef>
                <a:spcPts val="800"/>
              </a:spcBef>
              <a:defRPr b="1" sz="1000">
                <a:solidFill>
                  <a:srgbClr val="166534"/>
                </a:solidFill>
              </a:defRPr>
            </a:pPr>
            <a:r>
              <a:t>Salvedad de Transporte: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Queda formalmente documentado que el coste de flete internacional no incrementa el OPEX neto de la compañía.</a:t>
            </a:r>
          </a:p>
          <a:p>
            <a:pPr>
              <a:spcBef>
                <a:spcPts val="800"/>
              </a:spcBef>
              <a:defRPr b="1" sz="1000">
                <a:solidFill>
                  <a:srgbClr val="166534"/>
                </a:solidFill>
              </a:defRPr>
            </a:pPr>
            <a:r>
              <a:t>Coordinación Interdepartamental: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Cada responsable de área ha validado su desglose mensual, asegurando compromiso operativo con el techo de gasto.</a:t>
            </a:r>
          </a:p>
          <a:p>
            <a:pPr>
              <a:spcBef>
                <a:spcPts val="800"/>
              </a:spcBef>
              <a:defRPr b="1" sz="1000">
                <a:solidFill>
                  <a:srgbClr val="166534"/>
                </a:solidFill>
              </a:defRPr>
            </a:pPr>
            <a:r>
              <a:t>Criterio Conservador: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Las partidas activables (como registros internacionales de marcas) se han analizado bajo estricto cumplimiento del PGC.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Calibri"/>
              </a:defRPr>
            </a:pPr>
            <a:r>
              <a:t>CODIAGRO · CONTROL PRESUPUESTARIO 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Tracción Inmediata: Validación con el Cierre de Septiembre 2026</a:t>
            </a:r>
          </a:p>
        </p:txBody>
      </p:sp>
      <p:pic>
        <p:nvPicPr>
          <p:cNvPr id="6" name="Picture 5" descr="codiagro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01168"/>
            <a:ext cx="2254469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Codiagro S.L. | Informe Confidencial para Dirección General · Presupuesto 2027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3749039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0876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OBJETIVO MENSUAL PREVISTO</a:t>
            </a:r>
          </a:p>
          <a:p>
            <a:pPr>
              <a:spcBef>
                <a:spcPts val="400"/>
              </a:spcBef>
              <a:defRPr sz="2600" b="1">
                <a:solidFill>
                  <a:srgbClr val="0B2545"/>
                </a:solidFill>
              </a:defRPr>
            </a:pPr>
            <a:r>
              <a:t>181.966 uds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 b="1">
                <a:solidFill>
                  <a:srgbClr val="1F4E79"/>
                </a:solidFill>
              </a:defRPr>
            </a:pPr>
            <a:r>
              <a:t>Presupuesto Septiembre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Cifra calculada sin factores de aplanamiento artificial (+5,2% en unidades originales).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325880"/>
            <a:ext cx="3749039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150876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PEDIDOS REALES REGISTRADOS</a:t>
            </a:r>
          </a:p>
          <a:p>
            <a:pPr>
              <a:spcBef>
                <a:spcPts val="400"/>
              </a:spcBef>
              <a:defRPr sz="2600" b="1">
                <a:solidFill>
                  <a:srgbClr val="0B2545"/>
                </a:solidFill>
              </a:defRPr>
            </a:pPr>
            <a:r>
              <a:t>236.105 uds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 b="1">
                <a:solidFill>
                  <a:srgbClr val="166534"/>
                </a:solidFill>
              </a:defRPr>
            </a:pPr>
            <a:r>
              <a:t>+129,8% de Cumplimiento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Sobrecumplimiento neto de +54.139 unidades respecto a la previsión inicial.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749040"/>
            <a:ext cx="3749039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3192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CAPACIDAD DE SERVICIO</a:t>
            </a:r>
          </a:p>
          <a:p>
            <a:pPr>
              <a:spcBef>
                <a:spcPts val="400"/>
              </a:spcBef>
              <a:defRPr sz="2600" b="1">
                <a:solidFill>
                  <a:srgbClr val="0B2545"/>
                </a:solidFill>
              </a:defRPr>
            </a:pPr>
            <a:r>
              <a:t>200.331 uds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 b="1">
                <a:solidFill>
                  <a:srgbClr val="1F4E79"/>
                </a:solidFill>
              </a:defRPr>
            </a:pPr>
            <a:r>
              <a:t>84,8% Servido Inmediato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200k unidades ya expedidas y 35.774 unidades en preparación en fábrica.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3749040"/>
            <a:ext cx="3749039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393192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IMPORTE NETO FACTURADO</a:t>
            </a:r>
          </a:p>
          <a:p>
            <a:pPr>
              <a:spcBef>
                <a:spcPts val="400"/>
              </a:spcBef>
              <a:defRPr sz="2600" b="1">
                <a:solidFill>
                  <a:srgbClr val="0B2545"/>
                </a:solidFill>
              </a:defRPr>
            </a:pPr>
            <a:r>
              <a:t>735.161 €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 b="1">
                <a:solidFill>
                  <a:srgbClr val="166534"/>
                </a:solidFill>
              </a:defRPr>
            </a:pPr>
            <a:r>
              <a:t>Corte al 01/10/2026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Facturación neta consolidada correspondiente a las órdenes del periodo.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95360" y="1325880"/>
            <a:ext cx="283464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0" y="1508760"/>
            <a:ext cx="2468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B2545"/>
                </a:solidFill>
              </a:defRPr>
            </a:pPr>
            <a:r>
              <a:t>¿QUÉ DEMUESTRA ESTE RESULTADO?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</a:defRPr>
            </a:pPr>
            <a:r>
              <a:t>✓ Confianza del Mercado: El salto de demanda anticipa una excelente campaña agrícola 2026/27.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</a:defRPr>
            </a:pPr>
            <a:r>
              <a:t>✓ Aceptación de Tarifas: La actualización de precios no ha erosionado la cartera de pedidos de los distribuidores.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</a:defRPr>
            </a:pPr>
            <a:r>
              <a:t>✓ Respaldo al Plan 2027: Los 17,18 M€ presupuestados para 2027 están sólidamente fundamentados en tracción real de compra.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</a:defRPr>
            </a:pPr>
            <a:r>
              <a:t>✓ Control en Tiempo Real: El nuevo dashboard automatizado permite detectar desviaciones a nivel cliente y SKU al día siguiente.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Calibri"/>
              </a:defRPr>
            </a:pPr>
            <a:r>
              <a:t>CODIAGRO · CONTROL PRESUPUESTARIO 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Gestión de Riesgos y Análisis de Sensibilidad del Escenario Presupuestario</a:t>
            </a:r>
          </a:p>
        </p:txBody>
      </p:sp>
      <p:pic>
        <p:nvPicPr>
          <p:cNvPr id="6" name="Picture 5" descr="codiagro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01168"/>
            <a:ext cx="2254469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Codiagro S.L. | Informe Confidencial para Dirección General · Presupuesto 2027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342900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3154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66534"/>
                </a:solidFill>
              </a:defRPr>
            </a:pPr>
            <a:r>
              <a:t>Escenario Optimista (+5% Ventas)</a:t>
            </a:r>
          </a:p>
          <a:p>
            <a:pPr>
              <a:defRPr sz="2200" b="1">
                <a:solidFill>
                  <a:srgbClr val="0B2545"/>
                </a:solidFill>
              </a:defRPr>
            </a:pPr>
            <a:r>
              <a:t>18,04 M€</a:t>
            </a:r>
          </a:p>
          <a:p>
            <a:pPr>
              <a:spcAft>
                <a:spcPts val="400"/>
              </a:spcAft>
              <a:defRPr sz="1100" b="1">
                <a:solidFill>
                  <a:srgbClr val="166534"/>
                </a:solidFill>
              </a:defRPr>
            </a:pPr>
            <a:r>
              <a:t>EBITDA: 7,85 M€ (43,5%)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Mayor penetración internacional y campaña agronómica adelantada.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325880"/>
            <a:ext cx="342900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417320"/>
            <a:ext cx="3154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4E79"/>
                </a:solidFill>
              </a:defRPr>
            </a:pPr>
            <a:r>
              <a:t>Escenario Base Presupuestado</a:t>
            </a:r>
          </a:p>
          <a:p>
            <a:pPr>
              <a:defRPr sz="2200" b="1">
                <a:solidFill>
                  <a:srgbClr val="0B2545"/>
                </a:solidFill>
              </a:defRPr>
            </a:pPr>
            <a:r>
              <a:t>17,18 M€</a:t>
            </a:r>
          </a:p>
          <a:p>
            <a:pPr>
              <a:spcAft>
                <a:spcPts val="400"/>
              </a:spcAft>
              <a:defRPr sz="1100" b="1">
                <a:solidFill>
                  <a:srgbClr val="1F4E79"/>
                </a:solidFill>
              </a:defRPr>
            </a:pPr>
            <a:r>
              <a:t>EBITDA: 7,30 M€ (42,5%)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Hipótesis central aprobada, con crecimiento del +13,2% y control de costes.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325880"/>
            <a:ext cx="342900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1417320"/>
            <a:ext cx="3154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45309"/>
                </a:solidFill>
              </a:defRPr>
            </a:pPr>
            <a:r>
              <a:t>Escenario Conservador (-5% Ventas)</a:t>
            </a:r>
          </a:p>
          <a:p>
            <a:pPr>
              <a:defRPr sz="2200" b="1">
                <a:solidFill>
                  <a:srgbClr val="0B2545"/>
                </a:solidFill>
              </a:defRPr>
            </a:pPr>
            <a:r>
              <a:t>16,32 M€</a:t>
            </a:r>
          </a:p>
          <a:p>
            <a:pPr>
              <a:spcAft>
                <a:spcPts val="400"/>
              </a:spcAft>
              <a:defRPr sz="1100" b="1">
                <a:solidFill>
                  <a:srgbClr val="B45309"/>
                </a:solidFill>
              </a:defRPr>
            </a:pPr>
            <a:r>
              <a:t>EBITDA: 6,75 M€ (41,4%)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Retraso en pedidos climáticos; margen EBITDA preservado por flexibilidad fabril.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31520" y="3566160"/>
          <a:ext cx="10728655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194560"/>
                <a:gridCol w="5973775"/>
              </a:tblGrid>
              <a:tr h="6629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Riesgo Identificado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Nivel de Impacto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Medida Preventiva / Plan de Mitigación Codiagro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1. Volatilidad en Precios de Materias Primas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B91C1C"/>
                          </a:solidFill>
                          <a:latin typeface="Calibri"/>
                        </a:defRPr>
                      </a:pPr>
                      <a:r>
                        <a:t>Medio-Alto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Contratos de cobertura y compras anticipadas para el 60% de las necesidades del primer semestre; fórmulas de revisión de precios con distribuidores.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2. Fricciones Regulatorias y Registro de Marcas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Medio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Presupuesto específico de 234 k€ en Regulatory; priorización de expedientes con mayor retorno de margen y apoyo de consultoría externa especializada.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3. Costes Logísticos y Fletes de Exportación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Bajo (Neutro)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Salvedad contractual: fletes marítimos/aéreos 100% repercutidos en factura comercial al cliente importador, blindando la rentabilidad neta.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Calibri"/>
              </a:defRPr>
            </a:pPr>
            <a:r>
              <a:t>CODIAGRO · CONTROL PRESUPUESTARIO 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Gobernanza y Control de Gestión: Calendario de Seguimiento 2027</a:t>
            </a:r>
          </a:p>
        </p:txBody>
      </p:sp>
      <p:pic>
        <p:nvPicPr>
          <p:cNvPr id="6" name="Picture 5" descr="codiagro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01168"/>
            <a:ext cx="2254469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Codiagro S.L. | Informe Confidencial para Dirección General · Presupuesto 2027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256032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63040"/>
            <a:ext cx="2286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ENE - MAR</a:t>
            </a:r>
          </a:p>
          <a:p>
            <a:pPr>
              <a:spcAft>
                <a:spcPts val="1400"/>
              </a:spcAft>
              <a:defRPr sz="1200" b="1">
                <a:solidFill>
                  <a:srgbClr val="0B2545"/>
                </a:solidFill>
              </a:defRPr>
            </a:pPr>
            <a:r>
              <a:t>Q1 2027 · Arranque y Campaña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• Lanzamiento de nuevas tarifas y contratos anuales.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• Revisión de consumo de materias primas frente al ratio 25,97%.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• Cierre y balance del primer trimestre con análisis de desviaciones.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325880"/>
            <a:ext cx="256032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463040"/>
            <a:ext cx="2286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ABR - JUN</a:t>
            </a:r>
          </a:p>
          <a:p>
            <a:pPr>
              <a:spcAft>
                <a:spcPts val="1400"/>
              </a:spcAft>
              <a:defRPr sz="1200" b="1">
                <a:solidFill>
                  <a:srgbClr val="0B2545"/>
                </a:solidFill>
              </a:defRPr>
            </a:pPr>
            <a:r>
              <a:t>Q2 2027 · Pico de Ventas y Envasado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• Meses clave de volumen fabril (Mayo y Junio &gt;750 k€ en compras).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• Control riguroso de subcontratación y horas de planta.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• Revisión semestral del plan de marketing y asistencia a ferias.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325880"/>
            <a:ext cx="256032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463040"/>
            <a:ext cx="2286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JUL - SEP</a:t>
            </a:r>
          </a:p>
          <a:p>
            <a:pPr>
              <a:spcAft>
                <a:spcPts val="1400"/>
              </a:spcAft>
              <a:defRPr sz="1200" b="1">
                <a:solidFill>
                  <a:srgbClr val="0B2545"/>
                </a:solidFill>
              </a:defRPr>
            </a:pPr>
            <a:r>
              <a:t>Q3 2027 · Campaña de Otoño y Export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• Cierre del verano y arranque de pedidos de otoño.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• Actualización del Rolling Forecast 2027/2028.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• Auditoría intermedia de stock de envases y palets.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1325880"/>
            <a:ext cx="256032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1463040"/>
            <a:ext cx="2286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OCT - DIC</a:t>
            </a:r>
          </a:p>
          <a:p>
            <a:pPr>
              <a:spcAft>
                <a:spcPts val="1400"/>
              </a:spcAft>
              <a:defRPr sz="1200" b="1">
                <a:solidFill>
                  <a:srgbClr val="0B2545"/>
                </a:solidFill>
              </a:defRPr>
            </a:pPr>
            <a:r>
              <a:t>Q4 2027 · Cierre y Regularización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• Regularización de rappels anuales y convenios comerciales.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• Inventario físico anual y ajuste de variación de existencias.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• Aprobación definitiva de cuentas del ejercicio.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Calibri"/>
              </a:defRPr>
            </a:pPr>
            <a:r>
              <a:t>CODIAGRO · CONTROL PRESUPUESTARIO 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Conclusiones y Decisiones Solicitadas a Dirección General</a:t>
            </a:r>
          </a:p>
        </p:txBody>
      </p:sp>
      <p:pic>
        <p:nvPicPr>
          <p:cNvPr id="6" name="Picture 5" descr="codiagro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01168"/>
            <a:ext cx="2254469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Codiagro S.L. | Informe Confidencial para Dirección General · Presupuesto 2027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10728655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35608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66534"/>
                </a:solidFill>
              </a:defRPr>
            </a:pPr>
            <a:r>
              <a:t>1. APROBACIÓN DEL MARCO FINANCIERO 2027  [Presupuesto Oficial]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t>✓  Aprobar la meta de Cifra Neta de Negocios en 17,18 M€ (+13,2% vs 2026).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t>✓  Ratificar el objetivo de EBITDA Ajustado en 7,30 M€ (42,5% de margen).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t>✓  Validar el techo de gasto de aprovisionamientos (COGS) en 5,92 M€.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926080"/>
            <a:ext cx="10728655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035808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E79"/>
                </a:solidFill>
              </a:defRPr>
            </a:pPr>
            <a:r>
              <a:t>2. AUTORIZACIÓN DE INVERSIONES Y ESTRUCTURA  [Plan de Recursos]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t>✓  Aprobar el presupuesto de personal de 2,23 M€ con refuerzo técnico y fabril.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t>✓  Validar la dotación de 266 k€ para Marketing estratégico y ferias sectoriales.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t>✓  Autorizar la partida de 234 k€ en Regulatory para protección y registros internacionales.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526280"/>
            <a:ext cx="10728655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636008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E79"/>
                </a:solidFill>
              </a:defRPr>
            </a:pPr>
            <a:r>
              <a:t>3. CRITERIOS DE SEGUIMIENTO Y GOBERNANZA  [Control y Reporting]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t>✓  Adopción del nuevo Dashboard Web de Control Presupuestario como herramienta oficial de monitorización continua.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t>✓  Revisión formal trimestral con Dirección de cada zona comercial.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t>✓  Mantenimiento de la política de neutralidad en transporte exterior repercutido.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