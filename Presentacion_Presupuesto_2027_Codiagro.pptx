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463040"/>
            <a:ext cx="109728" cy="3931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3121572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46888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0B981"/>
                </a:solidFill>
                <a:latin typeface="Calibri"/>
              </a:defRPr>
            </a:pPr>
            <a:r>
              <a:t>PLAN ESTRATÉGICO &amp; CONTROL DE GESTIÓN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PRESUPUESTO 2027 &amp;</a:t>
            </a:r>
            <a:br/>
            <a:r>
              <a:t>CIERRE FORECAST 2026</a:t>
            </a:r>
          </a:p>
          <a:p>
            <a:pPr>
              <a:spcAft>
                <a:spcPts val="2800"/>
              </a:spcAft>
              <a:defRPr sz="1400">
                <a:solidFill>
                  <a:srgbClr val="CBD5E1"/>
                </a:solidFill>
                <a:latin typeface="Calibri"/>
              </a:defRPr>
            </a:pPr>
            <a:r>
              <a:t>Visión Integral: Cifra de Negocios, Rentabilidad Operativa (EBITDA), Estructura de Gastos y Desempeño Comercial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CODIAGRO AGROQUÍMICA S.L.  |  Presentación para Dirección General  | 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Resumen Ejecutivo: Los 5 Pilares del Presupuesto 2027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2029968" cy="411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Crecimiento Sostenido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17,74 M€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+16,9% (+2,56 M€)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Incremento del volumen comercial (+9,9% en unidades) y mejora de precios medios y mix por productos de alta tecnología nutricional.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26080" y="1325880"/>
            <a:ext cx="2029968" cy="411480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EBITDA Récord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7,40 M€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41,7% Margen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El beneficio operativo crece +972 k€ (+15,1% vs 2026), preservando un margen de rentabilidad superior al 41% sobre ingresos.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0" y="1325880"/>
            <a:ext cx="2029968" cy="411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3. Margen Bruto Fuerte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63,9%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11,33 M€ Bruto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Absorción íntegra de la inflación de materias primas (+4,5%) gracias a economías de escala fabriles y optimización en compras.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325880"/>
            <a:ext cx="2029968" cy="411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4. Eficiencia de OPEX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12,6%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Coste Personal/Vtas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Gastos de estructura bajo control. La masa salarial (2,23 M€) baja su peso relativo en ventas del 13,2% (2026) al 12,6% (2027).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6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509760" y="1325880"/>
            <a:ext cx="2029968" cy="411480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 Tracción Inmediata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129,8%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Cierre Sep-26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La demanda actual valida la ambición del plan: Septiembre 2026 cierra con 236.105 uds pedidas vs 181.966 presupuestadas (+29,8%).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Cuenta de Resultados (P&amp;L): Cierre 2026 Forecast vs Presupuesto 2027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75895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  <a:gridCol w="1005840"/>
                <a:gridCol w="1005840"/>
                <a:gridCol w="1005840"/>
              </a:tblGrid>
              <a:tr h="44057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Línea P&amp;L (en miles de 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2026 FC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Vtas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2027 B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Vtas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(€ / %)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1. Cifra Neta de Negocios (Ventas)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15.180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100,0%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17.738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100,0%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+2.558 (+16,9%)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 Coste de las Ventas (COGS)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-5.234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34,5%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-6.407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36,1%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-1.174 (+22,4%)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3. Margen Bruto (Gross Profit)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9.946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65,5%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11.331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63,9%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+1.384 (+13,9%)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4. Gastos de Personal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-2.007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13,2%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-2.229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12,6%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-222 (+11,1%)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5. Otros Ingresos Operativos (Export Transp)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+305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1,7%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+137 (+81,1%)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 Otros Gastos Operativos (Opex)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-1.684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11,1%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-2.011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11,3%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-326 (+19,4%)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7. Total Gastos Fijos (OPEX Neto)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-3.522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23,2%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-3.934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22,2%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-412 (+11,7%)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8. EBITDA Ajustado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6.424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42,3%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7.397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41,7%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+973 (+15,1%)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9. Amortizaciones y Depreciaciones (D&amp;A)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-1 (+0,4%)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10. EBIT Ajustado (Resultado Operativo)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6.201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40,8%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7.166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40,4%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+965 (+15,6%)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503920" y="1325880"/>
            <a:ext cx="2926080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463040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RENTABILIDAD OPERATIVA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7,40 M€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EBITDA récord en la historia de la compañía (+15,1% vs 2026), manteniendo un margen excelente del 41,7% a pesar del impacto inflacionario en costes.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3840480"/>
            <a:ext cx="2926080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3977639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E79"/>
                </a:solidFill>
              </a:defRPr>
            </a:pPr>
            <a:r>
              <a:t>APALANCAMIENTO OPERATIVO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+2,56 M€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Crecimiento en ingresos (+16,9%) impulsado por expansión de red comercial y mayor cuota en clientes estratégicos, convirtiendo cada euro extra en 38 céntimos de EBITDA.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Desglose Comercial: Objetivos de Ventas 2027 por Zona y Gestor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7772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97280"/>
                <a:gridCol w="1097280"/>
                <a:gridCol w="914400"/>
                <a:gridCol w="1005840"/>
                <a:gridCol w="1005840"/>
                <a:gridCol w="1097280"/>
              </a:tblGrid>
              <a:tr h="5384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Comercial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2026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2027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(Uds)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Cuota '27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Mercado Clave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García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5.852.629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6.723.769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+14,9%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+9,9%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37,9%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España Centro-Sur / Clientes 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Ricardo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3.821.151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4.401.918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+15,2%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+10,9%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24,8%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Levante / Distribución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Mehmet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1.828.039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2.167.769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+18,6%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+13,8%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12,2%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Exportación Internacional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Pedro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1.245.386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1.413.541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+13,5%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+8,3%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8,0%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Zona Norte / Agroindustria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Irene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1.092.517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1.251.434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+14,5%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+9,0%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Bioestimulantes / Especialidades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Javier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1.009.061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1.142.039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+13,2%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+9,0%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6,4%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Cultivos Leñosos y Frutales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Alfonso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535.366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637.691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+19,1%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+12,5%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Nuevas Cuentas / Expansión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TOTAL CODIAGRO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15.384.149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17.738.160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+15,3%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+10,3%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100,0%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Consolidado Comercial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686800" y="1325880"/>
            <a:ext cx="27432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B2545"/>
                </a:solidFill>
              </a:defRPr>
            </a:pPr>
            <a:r>
              <a:t>CLAVES COMERCIALES 2027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Liderazgo Consolidado: 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García y Ricardo representan el 62,7% de la cifra global (11,12 M€), garantizando solidez en el negocio recurrente.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Acelerador Exportación: 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Mehmet lidera el crecimiento relativo internacional (+18,6% en € / +13,8% en volumen), consolidando mercados exteriores clave.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Dinamismo en Red: 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Alfonso (+19,1%) e Irene (+14,5%) potencian la venta técnica de gamas biológicas de mayor margen unitario.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Efecto Mix y Precio: 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El crecimiento en facturación (+15,3%) supera al de unidades (+10,3%), reflejando el incremento del precio medio ponderado.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Estructura de Aprovisionamientos y Margen Bruto (COGS)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68580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Materias Primas (601): 4.585 k€  (25,85% s/ventas)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Consumo directo en formulación química. Se traslada un +4,5% por actualización de índices inflacionarios en 2027.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14600"/>
            <a:ext cx="68580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24328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Envases y Embalajes (602001): 956 k€  (5,39% s/ventas)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Bidones, garrafas y contenedores IBC. Unificación de criterios de imputación tras integración de cuentas satélite.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03320"/>
            <a:ext cx="68580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13048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Etiquetas y Palets (602002/3): 320 k€  (1,80% s/ventas)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Materiales auxiliares y consumibles logísticos vinculados al envasado en planta.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68580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01768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Subcontratación y Fabril (607): 546 k€  (3,08% s/ventas)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Refuerzo puntual en picos de demanda estacional para maximizar servicio sin sobrecargar estructura fija.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325880"/>
            <a:ext cx="3566160" cy="48463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66534"/>
                </a:solidFill>
              </a:defRPr>
            </a:pPr>
            <a:r>
              <a:t>SÍNTESIS DE MARGEN BRUTO</a:t>
            </a:r>
          </a:p>
          <a:p>
            <a:pPr>
              <a:spcBef>
                <a:spcPts val="600"/>
              </a:spcBef>
              <a:defRPr sz="3600" b="1">
                <a:solidFill>
                  <a:srgbClr val="0B2545"/>
                </a:solidFill>
              </a:defRPr>
            </a:pPr>
            <a:r>
              <a:t>63,9%</a:t>
            </a:r>
          </a:p>
          <a:p>
            <a:pPr>
              <a:spcAft>
                <a:spcPts val="1400"/>
              </a:spcAft>
              <a:defRPr sz="1200" b="1">
                <a:solidFill>
                  <a:srgbClr val="10B981"/>
                </a:solidFill>
              </a:defRPr>
            </a:pPr>
            <a:r>
              <a:t>11.330.914 € de Gross Profit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A pesar de absorber una subida de costes del +22,4% (por inflación de MP y mayor producción), el Gross Profit en euros crece un +13,9% (+1,38 M€).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El apalancamiento de volumen compensa con creces el ligero ajuste de margen porcentual (de 65,5% a 63,9%).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Política de compras con contratos a plazo en materias primas clave para asegurar precio y suministro continuo en campaña.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Estructura Operativa: Gastos de Personal y Gastos Fijos (OPEX)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34290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E79"/>
                </a:solidFill>
              </a:defRPr>
            </a:pPr>
            <a:r>
              <a:t>GASTOS DE PERSONAL</a:t>
            </a:r>
          </a:p>
          <a:p>
            <a:pPr>
              <a:defRPr sz="2400" b="1">
                <a:solidFill>
                  <a:srgbClr val="0B2545"/>
                </a:solidFill>
              </a:defRPr>
            </a:pPr>
            <a:r>
              <a:t>2.228.610 €</a:t>
            </a:r>
          </a:p>
          <a:p>
            <a:pPr>
              <a:spcAft>
                <a:spcPts val="1200"/>
              </a:spcAft>
              <a:defRPr sz="1100" b="1">
                <a:solidFill>
                  <a:srgbClr val="166534"/>
                </a:solidFill>
              </a:defRPr>
            </a:pPr>
            <a:r>
              <a:t>12,56% de Ventas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Incremento de +222 k€ (+11,1% vs 2026) motivado por:</a:t>
            </a:r>
            <a:br/>
            <a:r>
              <a:t>• Actualización salarial convenio químico y antigüedad.</a:t>
            </a:r>
            <a:br/>
            <a:r>
              <a:t>• Refuerzo del equipo técnico de desarrollo agronómico en campo.</a:t>
            </a:r>
            <a:br/>
            <a:r>
              <a:t>• Nueva incorporación en planta para absorber mayor ritmo de envasado.</a:t>
            </a:r>
            <a:br/>
            <a:r>
              <a:t>• Mejora de eficiencia: el peso s/ventas se reduce del 13,2% al 12,6%.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4290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6304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E79"/>
                </a:solidFill>
              </a:defRPr>
            </a:pPr>
            <a:r>
              <a:t>OTROS GASTOS OPERATIVOS</a:t>
            </a:r>
          </a:p>
          <a:p>
            <a:pPr>
              <a:defRPr sz="2400" b="1">
                <a:solidFill>
                  <a:srgbClr val="0B2545"/>
                </a:solidFill>
              </a:defRPr>
            </a:pPr>
            <a:r>
              <a:t>2.010.508 €</a:t>
            </a:r>
          </a:p>
          <a:p>
            <a:pPr>
              <a:spcAft>
                <a:spcPts val="1200"/>
              </a:spcAft>
              <a:defRPr sz="1100" b="1">
                <a:solidFill>
                  <a:srgbClr val="1F4E79"/>
                </a:solidFill>
              </a:defRPr>
            </a:pPr>
            <a:r>
              <a:t>11,33% de Ventas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Partidas de funcionamiento diario:</a:t>
            </a:r>
            <a:br/>
            <a:r>
              <a:t>• Marketing y Campañas: 266 k€ (+54 k€).</a:t>
            </a:r>
            <a:br/>
            <a:r>
              <a:t>• Transporte nacional neto: 246 k€.</a:t>
            </a:r>
            <a:br/>
            <a:r>
              <a:t>• Registros y Regulatory: 234 k€.</a:t>
            </a:r>
            <a:br/>
            <a:r>
              <a:t>• Mantenimiento y consumibles fábrica: 91 k€.</a:t>
            </a:r>
            <a:br/>
            <a:r>
              <a:t>• Servicios profesionales, suministros y seguros generales.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25880"/>
            <a:ext cx="34290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46304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OTROS INGRESOS OPERATIVOS</a:t>
            </a:r>
          </a:p>
          <a:p>
            <a:pPr>
              <a:defRPr sz="2400" b="1">
                <a:solidFill>
                  <a:srgbClr val="0B2545"/>
                </a:solidFill>
              </a:defRPr>
            </a:pPr>
            <a:r>
              <a:t>305.223 €</a:t>
            </a:r>
          </a:p>
          <a:p>
            <a:pPr>
              <a:spcAft>
                <a:spcPts val="1200"/>
              </a:spcAft>
              <a:defRPr sz="1100" b="1">
                <a:solidFill>
                  <a:srgbClr val="1F4E79"/>
                </a:solidFill>
              </a:defRPr>
            </a:pPr>
            <a:r>
              <a:t>Compensación Export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Salvedad contable de transporte:</a:t>
            </a:r>
            <a:br/>
            <a:r>
              <a:t>• Los fletes marítimos y aéreos de exportación se facturan íntegramente al cliente exterior en factura de venta (700001624).</a:t>
            </a:r>
            <a:br/>
            <a:r>
              <a:t>• Impacto en EBITDA: Totalmente neutro.</a:t>
            </a:r>
            <a:br/>
            <a:r>
              <a:t>• Transparencia y rigor normativo PGC.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Conciliación Departamental: Presupuestos de Área vs Criterio PGC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7772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80160"/>
                <a:gridCol w="1280160"/>
                <a:gridCol w="1280160"/>
                <a:gridCol w="1645920"/>
              </a:tblGrid>
              <a:tr h="69233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Departamento / Área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Ppto Depto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Ppto P&amp;L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Diferencia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Conciliación PGC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Compras y Aprovisionamientos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6.254.129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6.036.996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+217.133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Ajuste de consumo real vs compras con stock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Transportes (Neto Codiagro)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245.670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301.549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-55.879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Exportación (305 k€) repercutida al cliente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Marketing y Comunicación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266.072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49.697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+216.375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Reclasificación ferias y campañas directas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Regulatory y Registros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233.918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105.551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+128.367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Registro de marcas UE activable (203/623)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Mantenimiento de Fábrica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91.234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197.422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-106.188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Subcontratación repuestos y revisiones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TOTAL GASTOS DEPARTAMENTOS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7.091.023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6.691.215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+399.808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Conciliado con Estados Financieros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686800" y="1325880"/>
            <a:ext cx="27432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B2545"/>
                </a:solidFill>
              </a:defRPr>
            </a:pPr>
            <a:r>
              <a:t>GARANTÍA DE CONTROL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Salvedad de Transporte: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Queda formalmente documentado que el coste de flete internacional no incrementa el OPEX neto de la compañía.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Coordinación Interdepartamental: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Cada responsable de área ha validado su desglose mensual, asegurando compromiso operativo con el techo de gasto.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Criterio Conservador: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Las partidas activables (como registros internacionales de marcas) se han analizado bajo estricto cumplimiento del PGC.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Tracción Inmediata: Validación con el Cierre de Septiembre 2026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3749039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0876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OBJETIVO MENSUAL PREVISTO</a:t>
            </a:r>
          </a:p>
          <a:p>
            <a:pPr>
              <a:spcBef>
                <a:spcPts val="400"/>
              </a:spcBef>
              <a:defRPr sz="2600" b="1">
                <a:solidFill>
                  <a:srgbClr val="0B2545"/>
                </a:solidFill>
              </a:defRPr>
            </a:pPr>
            <a:r>
              <a:t>181.966 uds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100" b="1">
                <a:solidFill>
                  <a:srgbClr val="1F4E79"/>
                </a:solidFill>
              </a:defRPr>
            </a:pPr>
            <a:r>
              <a:t>Presupuesto Septiembre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Cifra calculada sin factores de aplanamiento artificial (+5,2% en unidades originales).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325880"/>
            <a:ext cx="3749039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50876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PEDIDOS REALES REGISTRADOS</a:t>
            </a:r>
          </a:p>
          <a:p>
            <a:pPr>
              <a:spcBef>
                <a:spcPts val="400"/>
              </a:spcBef>
              <a:defRPr sz="2600" b="1">
                <a:solidFill>
                  <a:srgbClr val="0B2545"/>
                </a:solidFill>
              </a:defRPr>
            </a:pPr>
            <a:r>
              <a:t>236.105 uds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100" b="1">
                <a:solidFill>
                  <a:srgbClr val="166534"/>
                </a:solidFill>
              </a:defRPr>
            </a:pPr>
            <a:r>
              <a:t>+129,8% de Cumplimiento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Sobrecumplimiento neto de +54.139 unidades respecto a la previsión inicial.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3749039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CAPACIDAD DE SERVICIO</a:t>
            </a:r>
          </a:p>
          <a:p>
            <a:pPr>
              <a:spcBef>
                <a:spcPts val="400"/>
              </a:spcBef>
              <a:defRPr sz="2600" b="1">
                <a:solidFill>
                  <a:srgbClr val="0B2545"/>
                </a:solidFill>
              </a:defRPr>
            </a:pPr>
            <a:r>
              <a:t>200.331 uds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100" b="1">
                <a:solidFill>
                  <a:srgbClr val="1F4E79"/>
                </a:solidFill>
              </a:defRPr>
            </a:pPr>
            <a:r>
              <a:t>84,8% Servido Inmediato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200k unidades ya expedidas y 35.774 unidades en preparación en fábrica.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749040"/>
            <a:ext cx="3749039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IMPORTE NETO FACTURADO</a:t>
            </a:r>
          </a:p>
          <a:p>
            <a:pPr>
              <a:spcBef>
                <a:spcPts val="400"/>
              </a:spcBef>
              <a:defRPr sz="2600" b="1">
                <a:solidFill>
                  <a:srgbClr val="0B2545"/>
                </a:solidFill>
              </a:defRPr>
            </a:pPr>
            <a:r>
              <a:t>735.161 €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100" b="1">
                <a:solidFill>
                  <a:srgbClr val="166534"/>
                </a:solidFill>
              </a:defRPr>
            </a:pPr>
            <a:r>
              <a:t>Corte al 01/10/2026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Facturación neta consolidada correspondiente a las órdenes del periodo.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1325880"/>
            <a:ext cx="283464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1508760"/>
            <a:ext cx="2468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B2545"/>
                </a:solidFill>
              </a:defRPr>
            </a:pPr>
            <a:r>
              <a:t>¿QUÉ DEMUESTRA ESTE RESULTADO?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✓ Confianza del Mercado: El salto de demanda anticipa una excelente campaña agrícola 2026/27.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✓ Aceptación de Tarifas: La actualización de precios no ha erosionado la cartera de pedidos de los distribuidores.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✓ Respaldo al Plan 2027: Los 17,74 M€ presupuestados para 2027 no son una cifra teórica; están respaldados por tracción de compra inmediata.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✓ Control en Tiempo Real: El nuevo dashboard automatizado permite detectar desviaciones a nivel cliente y SKU al día siguiente.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Gestión de Riesgos y Análisis de Sensibilidad del Escenario Presupuestario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342900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173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Escenario Optimista (+5% Ventas)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18,63 M€</a:t>
            </a:r>
          </a:p>
          <a:p>
            <a:pPr>
              <a:spcAft>
                <a:spcPts val="400"/>
              </a:spcAft>
              <a:defRPr sz="1100" b="1">
                <a:solidFill>
                  <a:srgbClr val="166534"/>
                </a:solidFill>
              </a:defRPr>
            </a:pPr>
            <a:r>
              <a:t>EBITDA: 7,95 M€ (42,7%)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Mayor penetración internacional y campaña agronómica adelantada.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42900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173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E79"/>
                </a:solidFill>
              </a:defRPr>
            </a:pPr>
            <a:r>
              <a:t>Escenario Base Presupuestado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17,74 M€</a:t>
            </a:r>
          </a:p>
          <a:p>
            <a:pPr>
              <a:spcAft>
                <a:spcPts val="400"/>
              </a:spcAft>
              <a:defRPr sz="1100" b="1">
                <a:solidFill>
                  <a:srgbClr val="1F4E79"/>
                </a:solidFill>
              </a:defRPr>
            </a:pPr>
            <a:r>
              <a:t>EBITDA: 7,40 M€ (41,7%)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Hipótesis central aprobada, con crecimiento del +16,9% y control de costes.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25880"/>
            <a:ext cx="342900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4173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9"/>
                </a:solidFill>
              </a:defRPr>
            </a:pPr>
            <a:r>
              <a:t>Escenario Conservador (-5% Ventas)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16,85 M€</a:t>
            </a:r>
          </a:p>
          <a:p>
            <a:pPr>
              <a:spcAft>
                <a:spcPts val="400"/>
              </a:spcAft>
              <a:defRPr sz="1100" b="1">
                <a:solidFill>
                  <a:srgbClr val="B45309"/>
                </a:solidFill>
              </a:defRPr>
            </a:pPr>
            <a:r>
              <a:t>EBITDA: 6,85 M€ (40,7%)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Retraso en pedidos climáticos; margen EBITDA preservado por flexibilidad fabril.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566160"/>
          <a:ext cx="1072865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94560"/>
                <a:gridCol w="5973775"/>
              </a:tblGrid>
              <a:tr h="66294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Riesgo Identificado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Nivel de Impacto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Medida Preventiva / Plan de Mitigación Codiagro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 Volatilidad en Precios de Materias Primas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Medio-Alto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Contratos de cobertura y compras anticipadas para el 60% de las necesidades del primer semestre; fórmulas de revisión de precios con distribuidores.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 Fricciones Regulatorias y Registro de Marcas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Presupuesto específico de 234 k€ en Regulatory; priorización de expedientes con mayor retorno de margen y apoyo de consultoría externa especializada.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3. Costes Logísticos y Fletes de Exportación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Bajo (Neutro)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Salvedad contractual: fletes marítimos/aéreos 100% repercutidos en factura comercial al cliente importador, blindando la rentabilidad neta.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Gobernanza y Control de Gestión: Calendario de Seguimiento 2027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256032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ENE - MAR</a:t>
            </a:r>
          </a:p>
          <a:p>
            <a:pPr>
              <a:spcAft>
                <a:spcPts val="1400"/>
              </a:spcAft>
              <a:defRPr sz="1200" b="1">
                <a:solidFill>
                  <a:srgbClr val="0B2545"/>
                </a:solidFill>
              </a:defRPr>
            </a:pPr>
            <a:r>
              <a:t>Q1 2027 · Arranque y Campaña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Lanzamiento de nuevas tarifas y contratos anuales.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Revisión de consumo de materias primas frente al ratio 25,85%.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Cierre y balance del primer trimestre con análisis de desviaciones.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325880"/>
            <a:ext cx="256032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46304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ABR - JUN</a:t>
            </a:r>
          </a:p>
          <a:p>
            <a:pPr>
              <a:spcAft>
                <a:spcPts val="1400"/>
              </a:spcAft>
              <a:defRPr sz="1200" b="1">
                <a:solidFill>
                  <a:srgbClr val="0B2545"/>
                </a:solidFill>
              </a:defRPr>
            </a:pPr>
            <a:r>
              <a:t>Q2 2027 · Pico de Ventas y Envasado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Meses clave de volumen fabril (Mayo y Junio &gt;800 k€ en compras).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Control riguroso de subcontratación y horas de planta.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Revisión semestral del plan de marketing y asistencia a ferias.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325880"/>
            <a:ext cx="256032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6304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JUL - SEP</a:t>
            </a:r>
          </a:p>
          <a:p>
            <a:pPr>
              <a:spcAft>
                <a:spcPts val="1400"/>
              </a:spcAft>
              <a:defRPr sz="1200" b="1">
                <a:solidFill>
                  <a:srgbClr val="0B2545"/>
                </a:solidFill>
              </a:defRPr>
            </a:pPr>
            <a:r>
              <a:t>Q3 2027 · Campaña de Otoño y Export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Cierre del verano y arranque de pedidos de otoño.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Actualización del Rolling Forecast 2027/2028.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Auditoría intermedia de stock de envases y palets.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325880"/>
            <a:ext cx="256032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46304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OCT - DIC</a:t>
            </a:r>
          </a:p>
          <a:p>
            <a:pPr>
              <a:spcAft>
                <a:spcPts val="1400"/>
              </a:spcAft>
              <a:defRPr sz="1200" b="1">
                <a:solidFill>
                  <a:srgbClr val="0B2545"/>
                </a:solidFill>
              </a:defRPr>
            </a:pPr>
            <a:r>
              <a:t>Q4 2027 · Cierre y Regularización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Regularización de rappels anuales y convenios comerciales.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Inventario físico anual y ajuste de variación de existencias.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Aprobación definitiva de cuentas del ejercicio.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Conclusiones y Decisiones Solicitadas a Dirección General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66534"/>
                </a:solidFill>
              </a:defRPr>
            </a:pPr>
            <a:r>
              <a:t>1. APROBACIÓN DEL MARCO FINANCIERO 2027  [Presupuesto Oficial]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Aprobar la meta de Cifra Neta de Negocios en 17,74 M€ (+16,9% vs 2026).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Ratificar el objetivo de EBITDA Ajustado en 7,40 M€ (41,7% de margen).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Validar el techo de gasto de aprovisionamientos (COGS) en 6,41 M€.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35808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</a:defRPr>
            </a:pPr>
            <a:r>
              <a:t>2. AUTORIZACIÓN DE INVERSIONES Y ESTRUCTURA  [Plan de Recursos]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Aprobar el presupuesto de personal de 2,23 M€ con refuerzo técnico y fabril.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Validar la dotación de 266 k€ para Marketing estratégico y ferias sectoriales.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Autorizar la partida de 234 k€ en Regulatory para protección y registros internacionales.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26280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36008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</a:defRPr>
            </a:pPr>
            <a:r>
              <a:t>3. CRITERIOS DE SEGUIMIENTO Y GOBERNANZA  [Control y Reporting]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Adopción del nuevo Dashboard Web de Control Presupuestario como herramienta oficial de monitorización continua.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Revisión formal trimestral con Dirección de cada zona comercial.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Mantenimiento de la política de neutralidad en transporte exterior repercutido.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